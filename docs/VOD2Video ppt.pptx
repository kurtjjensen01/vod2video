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6" r:id="rId6"/>
    <p:sldId id="262" r:id="rId7"/>
    <p:sldId id="260" r:id="rId8"/>
    <p:sldId id="261" r:id="rId9"/>
    <p:sldId id="264" r:id="rId10"/>
    <p:sldId id="263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5C611C-8C80-1B6E-3D1C-ED16EC3FB292}" v="52" dt="2026-04-20T06:37:33.623"/>
    <p1510:client id="{5B7FE688-678A-42CA-B1F7-5DF5A39CEA8C}" v="226" dt="2026-04-20T01:59:49.856"/>
    <p1510:client id="{8A3A2A59-F134-B227-EFAD-88E192A26110}" v="3" dt="2026-04-20T02:04:28.583"/>
    <p1510:client id="{C13828A2-A519-2F02-9E25-D57DC6AA9A65}" v="2" dt="2026-04-20T01:58:20.191"/>
    <p1510:client id="{D06F8FB2-C1CE-3BA8-F1B4-4C688F3480AB}" v="641" dt="2026-04-20T17:04:29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CDB6A7-9626-4CE4-9E9E-D0EC4897825E}" type="doc">
      <dgm:prSet loTypeId="urn:microsoft.com/office/officeart/2016/7/layout/Basic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762970-8060-4C5D-B273-2E7AD5F4F1D0}">
      <dgm:prSet/>
      <dgm:spPr>
        <a:solidFill>
          <a:srgbClr val="00B0F0"/>
        </a:solidFill>
        <a:ln>
          <a:solidFill>
            <a:srgbClr val="00B0F0"/>
          </a:solidFill>
        </a:ln>
      </dgm:spPr>
      <dgm:t>
        <a:bodyPr/>
        <a:lstStyle/>
        <a:p>
          <a:r>
            <a:rPr lang="en-US" i="0">
              <a:latin typeface="Times New Roman" panose="02020603050405020304" pitchFamily="18" charset="0"/>
              <a:cs typeface="Times New Roman" panose="02020603050405020304" pitchFamily="18" charset="0"/>
            </a:rPr>
            <a:t>Yao, Mei, and Rui, "Highlight Detection With Pairwise Deep Ranking for First-Person Video Summarization," CVPR 2016.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BC1B69-CF4C-4D4F-9775-4DFBFE3B2FDB}" type="parTrans" cxnId="{88026708-9F5D-4BC4-AC31-F2F6D3694046}">
      <dgm:prSet/>
      <dgm:spPr/>
      <dgm:t>
        <a:bodyPr/>
        <a:lstStyle/>
        <a:p>
          <a:endParaRPr lang="en-US"/>
        </a:p>
      </dgm:t>
    </dgm:pt>
    <dgm:pt modelId="{331E223F-AFED-445A-8286-AC9F1C79FF44}" type="sibTrans" cxnId="{88026708-9F5D-4BC4-AC31-F2F6D3694046}">
      <dgm:prSet/>
      <dgm:spPr/>
      <dgm:t>
        <a:bodyPr/>
        <a:lstStyle/>
        <a:p>
          <a:endParaRPr lang="en-US"/>
        </a:p>
      </dgm:t>
    </dgm:pt>
    <dgm:pt modelId="{A0E57760-7991-4CB3-8E44-1E16F4FA3CD1}">
      <dgm:prSet/>
      <dgm:spPr>
        <a:solidFill>
          <a:srgbClr val="00B0F0"/>
        </a:solidFill>
      </dgm:spPr>
      <dgm:t>
        <a:bodyPr/>
        <a:lstStyle/>
        <a:p>
          <a:r>
            <a:rPr lang="en-US" i="0" err="1">
              <a:latin typeface="Times New Roman" panose="02020603050405020304" pitchFamily="18" charset="0"/>
              <a:cs typeface="Times New Roman" panose="02020603050405020304" pitchFamily="18" charset="0"/>
            </a:rPr>
            <a:t>Mahasseni</a:t>
          </a:r>
          <a:r>
            <a:rPr lang="en-US" i="0">
              <a:latin typeface="Times New Roman" panose="02020603050405020304" pitchFamily="18" charset="0"/>
              <a:cs typeface="Times New Roman" panose="02020603050405020304" pitchFamily="18" charset="0"/>
            </a:rPr>
            <a:t>, Lam, and Todorovic, "Unsupervised Video Summarization with Adversarial LSTM Networks," CVPR 2017.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A59DA86-AFC7-48FF-A399-846E2A16F23C}" type="parTrans" cxnId="{B0C8B6C4-9C08-4941-A86E-E09A14CFD818}">
      <dgm:prSet/>
      <dgm:spPr/>
      <dgm:t>
        <a:bodyPr/>
        <a:lstStyle/>
        <a:p>
          <a:endParaRPr lang="en-US"/>
        </a:p>
      </dgm:t>
    </dgm:pt>
    <dgm:pt modelId="{1C7E0185-33CC-419D-B205-1F9F6D9013A0}" type="sibTrans" cxnId="{B0C8B6C4-9C08-4941-A86E-E09A14CFD818}">
      <dgm:prSet/>
      <dgm:spPr/>
      <dgm:t>
        <a:bodyPr/>
        <a:lstStyle/>
        <a:p>
          <a:endParaRPr lang="en-US"/>
        </a:p>
      </dgm:t>
    </dgm:pt>
    <dgm:pt modelId="{97EDD5FE-EE83-4F6F-940E-40AFD2B8D919}">
      <dgm:prSet/>
      <dgm:spPr>
        <a:solidFill>
          <a:srgbClr val="00B0F0"/>
        </a:solidFill>
      </dgm:spPr>
      <dgm:t>
        <a:bodyPr/>
        <a:lstStyle/>
        <a:p>
          <a:r>
            <a:rPr lang="en-US" i="0">
              <a:latin typeface="Times New Roman" panose="02020603050405020304" pitchFamily="18" charset="0"/>
              <a:cs typeface="Times New Roman" panose="02020603050405020304" pitchFamily="18" charset="0"/>
            </a:rPr>
            <a:t>Wei et al., "Learning Pixel-Level Distinctions for Video Highlight Detection," CVPR 2022.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BA2C994-6731-4026-B0C5-A9428BD7A924}" type="parTrans" cxnId="{252C2E5D-F099-4EAC-A5A4-E14FC6691E61}">
      <dgm:prSet/>
      <dgm:spPr/>
      <dgm:t>
        <a:bodyPr/>
        <a:lstStyle/>
        <a:p>
          <a:endParaRPr lang="en-US"/>
        </a:p>
      </dgm:t>
    </dgm:pt>
    <dgm:pt modelId="{AD91E705-B3CE-4A50-9C12-E730EB177C95}" type="sibTrans" cxnId="{252C2E5D-F099-4EAC-A5A4-E14FC6691E61}">
      <dgm:prSet/>
      <dgm:spPr/>
      <dgm:t>
        <a:bodyPr/>
        <a:lstStyle/>
        <a:p>
          <a:endParaRPr lang="en-US"/>
        </a:p>
      </dgm:t>
    </dgm:pt>
    <dgm:pt modelId="{EEFEA0B5-C19A-450B-8C87-65E1E40B3CE4}" type="pres">
      <dgm:prSet presAssocID="{E2CDB6A7-9626-4CE4-9E9E-D0EC4897825E}" presName="Name0" presStyleCnt="0">
        <dgm:presLayoutVars>
          <dgm:dir/>
          <dgm:resizeHandles val="exact"/>
        </dgm:presLayoutVars>
      </dgm:prSet>
      <dgm:spPr/>
    </dgm:pt>
    <dgm:pt modelId="{94CCBE7D-5C8D-4C0A-8B11-E3696EEAC8A7}" type="pres">
      <dgm:prSet presAssocID="{C8762970-8060-4C5D-B273-2E7AD5F4F1D0}" presName="node" presStyleLbl="node1" presStyleIdx="0" presStyleCnt="5">
        <dgm:presLayoutVars>
          <dgm:bulletEnabled val="1"/>
        </dgm:presLayoutVars>
      </dgm:prSet>
      <dgm:spPr/>
    </dgm:pt>
    <dgm:pt modelId="{A26C4B04-A0B3-40C8-9ACA-494630BE48F8}" type="pres">
      <dgm:prSet presAssocID="{331E223F-AFED-445A-8286-AC9F1C79FF44}" presName="sibTransSpacerBeforeConnector" presStyleCnt="0"/>
      <dgm:spPr/>
    </dgm:pt>
    <dgm:pt modelId="{E6E05A70-537C-4869-98D6-77A7C4510110}" type="pres">
      <dgm:prSet presAssocID="{331E223F-AFED-445A-8286-AC9F1C79FF44}" presName="sibTrans" presStyleLbl="node1" presStyleIdx="1" presStyleCnt="5"/>
      <dgm:spPr/>
    </dgm:pt>
    <dgm:pt modelId="{E372C021-E8AE-4FCB-BE10-1CAD22725CBF}" type="pres">
      <dgm:prSet presAssocID="{331E223F-AFED-445A-8286-AC9F1C79FF44}" presName="sibTransSpacerAfterConnector" presStyleCnt="0"/>
      <dgm:spPr/>
    </dgm:pt>
    <dgm:pt modelId="{E8CB4C64-E003-42C8-A2A8-5E127C215F0F}" type="pres">
      <dgm:prSet presAssocID="{A0E57760-7991-4CB3-8E44-1E16F4FA3CD1}" presName="node" presStyleLbl="node1" presStyleIdx="2" presStyleCnt="5" custLinFactNeighborX="13095" custLinFactNeighborY="537">
        <dgm:presLayoutVars>
          <dgm:bulletEnabled val="1"/>
        </dgm:presLayoutVars>
      </dgm:prSet>
      <dgm:spPr/>
    </dgm:pt>
    <dgm:pt modelId="{39E223F5-9AA0-4916-A08B-D090D85798FF}" type="pres">
      <dgm:prSet presAssocID="{1C7E0185-33CC-419D-B205-1F9F6D9013A0}" presName="sibTransSpacerBeforeConnector" presStyleCnt="0"/>
      <dgm:spPr/>
    </dgm:pt>
    <dgm:pt modelId="{B44F55BC-2FF0-4860-B13C-052779B7D9A4}" type="pres">
      <dgm:prSet presAssocID="{1C7E0185-33CC-419D-B205-1F9F6D9013A0}" presName="sibTrans" presStyleLbl="node1" presStyleIdx="3" presStyleCnt="5"/>
      <dgm:spPr/>
    </dgm:pt>
    <dgm:pt modelId="{4D0E9A1A-DC1E-4F64-B80A-C198573D2EBB}" type="pres">
      <dgm:prSet presAssocID="{1C7E0185-33CC-419D-B205-1F9F6D9013A0}" presName="sibTransSpacerAfterConnector" presStyleCnt="0"/>
      <dgm:spPr/>
    </dgm:pt>
    <dgm:pt modelId="{2A079CA8-EE4C-408B-BA89-D16CC7B5801B}" type="pres">
      <dgm:prSet presAssocID="{97EDD5FE-EE83-4F6F-940E-40AFD2B8D919}" presName="node" presStyleLbl="node1" presStyleIdx="4" presStyleCnt="5">
        <dgm:presLayoutVars>
          <dgm:bulletEnabled val="1"/>
        </dgm:presLayoutVars>
      </dgm:prSet>
      <dgm:spPr/>
    </dgm:pt>
  </dgm:ptLst>
  <dgm:cxnLst>
    <dgm:cxn modelId="{88026708-9F5D-4BC4-AC31-F2F6D3694046}" srcId="{E2CDB6A7-9626-4CE4-9E9E-D0EC4897825E}" destId="{C8762970-8060-4C5D-B273-2E7AD5F4F1D0}" srcOrd="0" destOrd="0" parTransId="{28BC1B69-CF4C-4D4F-9775-4DFBFE3B2FDB}" sibTransId="{331E223F-AFED-445A-8286-AC9F1C79FF44}"/>
    <dgm:cxn modelId="{27595028-51A4-46F2-9A84-6A40430FDBA6}" type="presOf" srcId="{C8762970-8060-4C5D-B273-2E7AD5F4F1D0}" destId="{94CCBE7D-5C8D-4C0A-8B11-E3696EEAC8A7}" srcOrd="0" destOrd="0" presId="urn:microsoft.com/office/officeart/2016/7/layout/BasicProcessNew"/>
    <dgm:cxn modelId="{A38FA130-EFDD-472D-8782-FB20C8886690}" type="presOf" srcId="{E2CDB6A7-9626-4CE4-9E9E-D0EC4897825E}" destId="{EEFEA0B5-C19A-450B-8C87-65E1E40B3CE4}" srcOrd="0" destOrd="0" presId="urn:microsoft.com/office/officeart/2016/7/layout/BasicProcessNew"/>
    <dgm:cxn modelId="{252C2E5D-F099-4EAC-A5A4-E14FC6691E61}" srcId="{E2CDB6A7-9626-4CE4-9E9E-D0EC4897825E}" destId="{97EDD5FE-EE83-4F6F-940E-40AFD2B8D919}" srcOrd="2" destOrd="0" parTransId="{7BA2C994-6731-4026-B0C5-A9428BD7A924}" sibTransId="{AD91E705-B3CE-4A50-9C12-E730EB177C95}"/>
    <dgm:cxn modelId="{FD608477-5741-4DE8-BCD5-F881D3F0BBD6}" type="presOf" srcId="{1C7E0185-33CC-419D-B205-1F9F6D9013A0}" destId="{B44F55BC-2FF0-4860-B13C-052779B7D9A4}" srcOrd="0" destOrd="0" presId="urn:microsoft.com/office/officeart/2016/7/layout/BasicProcessNew"/>
    <dgm:cxn modelId="{FE49658A-9605-4E37-A641-2A6BC9D7C9D1}" type="presOf" srcId="{331E223F-AFED-445A-8286-AC9F1C79FF44}" destId="{E6E05A70-537C-4869-98D6-77A7C4510110}" srcOrd="0" destOrd="0" presId="urn:microsoft.com/office/officeart/2016/7/layout/BasicProcessNew"/>
    <dgm:cxn modelId="{F70F348E-2E4C-4BFF-BC01-27B2088B2AE6}" type="presOf" srcId="{A0E57760-7991-4CB3-8E44-1E16F4FA3CD1}" destId="{E8CB4C64-E003-42C8-A2A8-5E127C215F0F}" srcOrd="0" destOrd="0" presId="urn:microsoft.com/office/officeart/2016/7/layout/BasicProcessNew"/>
    <dgm:cxn modelId="{B0C8B6C4-9C08-4941-A86E-E09A14CFD818}" srcId="{E2CDB6A7-9626-4CE4-9E9E-D0EC4897825E}" destId="{A0E57760-7991-4CB3-8E44-1E16F4FA3CD1}" srcOrd="1" destOrd="0" parTransId="{2A59DA86-AFC7-48FF-A399-846E2A16F23C}" sibTransId="{1C7E0185-33CC-419D-B205-1F9F6D9013A0}"/>
    <dgm:cxn modelId="{89EBDED9-262A-4B02-A7BF-428CC519BDCD}" type="presOf" srcId="{97EDD5FE-EE83-4F6F-940E-40AFD2B8D919}" destId="{2A079CA8-EE4C-408B-BA89-D16CC7B5801B}" srcOrd="0" destOrd="0" presId="urn:microsoft.com/office/officeart/2016/7/layout/BasicProcessNew"/>
    <dgm:cxn modelId="{FA5EE92A-1615-4758-905C-0B9B701E96B6}" type="presParOf" srcId="{EEFEA0B5-C19A-450B-8C87-65E1E40B3CE4}" destId="{94CCBE7D-5C8D-4C0A-8B11-E3696EEAC8A7}" srcOrd="0" destOrd="0" presId="urn:microsoft.com/office/officeart/2016/7/layout/BasicProcessNew"/>
    <dgm:cxn modelId="{D1D35374-2CD4-4B61-87CA-04B95CCFA769}" type="presParOf" srcId="{EEFEA0B5-C19A-450B-8C87-65E1E40B3CE4}" destId="{A26C4B04-A0B3-40C8-9ACA-494630BE48F8}" srcOrd="1" destOrd="0" presId="urn:microsoft.com/office/officeart/2016/7/layout/BasicProcessNew"/>
    <dgm:cxn modelId="{835C8E5C-7831-4E9D-9612-8836868A37DF}" type="presParOf" srcId="{EEFEA0B5-C19A-450B-8C87-65E1E40B3CE4}" destId="{E6E05A70-537C-4869-98D6-77A7C4510110}" srcOrd="2" destOrd="0" presId="urn:microsoft.com/office/officeart/2016/7/layout/BasicProcessNew"/>
    <dgm:cxn modelId="{765A335F-25FE-42C7-9FEA-EC96B75976B5}" type="presParOf" srcId="{EEFEA0B5-C19A-450B-8C87-65E1E40B3CE4}" destId="{E372C021-E8AE-4FCB-BE10-1CAD22725CBF}" srcOrd="3" destOrd="0" presId="urn:microsoft.com/office/officeart/2016/7/layout/BasicProcessNew"/>
    <dgm:cxn modelId="{93F367D6-1605-43DB-8443-07D783C62199}" type="presParOf" srcId="{EEFEA0B5-C19A-450B-8C87-65E1E40B3CE4}" destId="{E8CB4C64-E003-42C8-A2A8-5E127C215F0F}" srcOrd="4" destOrd="0" presId="urn:microsoft.com/office/officeart/2016/7/layout/BasicProcessNew"/>
    <dgm:cxn modelId="{C69795A3-21A6-4105-8317-94C8A9BB5B04}" type="presParOf" srcId="{EEFEA0B5-C19A-450B-8C87-65E1E40B3CE4}" destId="{39E223F5-9AA0-4916-A08B-D090D85798FF}" srcOrd="5" destOrd="0" presId="urn:microsoft.com/office/officeart/2016/7/layout/BasicProcessNew"/>
    <dgm:cxn modelId="{73ADF1DE-A6CA-4DB7-9D88-036659720E1D}" type="presParOf" srcId="{EEFEA0B5-C19A-450B-8C87-65E1E40B3CE4}" destId="{B44F55BC-2FF0-4860-B13C-052779B7D9A4}" srcOrd="6" destOrd="0" presId="urn:microsoft.com/office/officeart/2016/7/layout/BasicProcessNew"/>
    <dgm:cxn modelId="{C6F56426-F9FD-4070-9A4B-BE0C00457A15}" type="presParOf" srcId="{EEFEA0B5-C19A-450B-8C87-65E1E40B3CE4}" destId="{4D0E9A1A-DC1E-4F64-B80A-C198573D2EBB}" srcOrd="7" destOrd="0" presId="urn:microsoft.com/office/officeart/2016/7/layout/BasicProcessNew"/>
    <dgm:cxn modelId="{9EC8FB10-39EB-4F69-9788-66EA13A38678}" type="presParOf" srcId="{EEFEA0B5-C19A-450B-8C87-65E1E40B3CE4}" destId="{2A079CA8-EE4C-408B-BA89-D16CC7B5801B}" srcOrd="8" destOrd="0" presId="urn:microsoft.com/office/officeart/2016/7/layout/Basic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CCBE7D-5C8D-4C0A-8B11-E3696EEAC8A7}">
      <dsp:nvSpPr>
        <dsp:cNvPr id="0" name=""/>
        <dsp:cNvSpPr/>
      </dsp:nvSpPr>
      <dsp:spPr>
        <a:xfrm>
          <a:off x="7807" y="20741"/>
          <a:ext cx="3312238" cy="1987342"/>
        </a:xfrm>
        <a:prstGeom prst="rect">
          <a:avLst/>
        </a:prstGeom>
        <a:solidFill>
          <a:srgbClr val="00B0F0"/>
        </a:solidFill>
        <a:ln w="1905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i="0" kern="1200">
              <a:latin typeface="Times New Roman" panose="02020603050405020304" pitchFamily="18" charset="0"/>
              <a:cs typeface="Times New Roman" panose="02020603050405020304" pitchFamily="18" charset="0"/>
            </a:rPr>
            <a:t>Yao, Mei, and Rui, "Highlight Detection With Pairwise Deep Ranking for First-Person Video Summarization," CVPR 2016.</a:t>
          </a:r>
          <a:endParaRPr lang="en-US" sz="21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807" y="20741"/>
        <a:ext cx="3312238" cy="1987342"/>
      </dsp:txXfrm>
    </dsp:sp>
    <dsp:sp modelId="{E6E05A70-537C-4869-98D6-77A7C4510110}">
      <dsp:nvSpPr>
        <dsp:cNvPr id="0" name=""/>
        <dsp:cNvSpPr/>
      </dsp:nvSpPr>
      <dsp:spPr>
        <a:xfrm>
          <a:off x="3368218" y="892913"/>
          <a:ext cx="496835" cy="243000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CB4C64-E003-42C8-A2A8-5E127C215F0F}">
      <dsp:nvSpPr>
        <dsp:cNvPr id="0" name=""/>
        <dsp:cNvSpPr/>
      </dsp:nvSpPr>
      <dsp:spPr>
        <a:xfrm>
          <a:off x="3919535" y="31413"/>
          <a:ext cx="3312238" cy="1987342"/>
        </a:xfrm>
        <a:prstGeom prst="rect">
          <a:avLst/>
        </a:prstGeom>
        <a:solidFill>
          <a:srgbClr val="00B0F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i="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Mahasseni</a:t>
          </a:r>
          <a:r>
            <a:rPr lang="en-US" sz="2100" i="0" kern="1200">
              <a:latin typeface="Times New Roman" panose="02020603050405020304" pitchFamily="18" charset="0"/>
              <a:cs typeface="Times New Roman" panose="02020603050405020304" pitchFamily="18" charset="0"/>
            </a:rPr>
            <a:t>, Lam, and Todorovic, "Unsupervised Video Summarization with Adversarial LSTM Networks," CVPR 2017.</a:t>
          </a:r>
          <a:endParaRPr lang="en-US" sz="21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919535" y="31413"/>
        <a:ext cx="3312238" cy="1987342"/>
      </dsp:txXfrm>
    </dsp:sp>
    <dsp:sp modelId="{B44F55BC-2FF0-4860-B13C-052779B7D9A4}">
      <dsp:nvSpPr>
        <dsp:cNvPr id="0" name=""/>
        <dsp:cNvSpPr/>
      </dsp:nvSpPr>
      <dsp:spPr>
        <a:xfrm>
          <a:off x="7273637" y="892913"/>
          <a:ext cx="496835" cy="243000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079CA8-EE4C-408B-BA89-D16CC7B5801B}">
      <dsp:nvSpPr>
        <dsp:cNvPr id="0" name=""/>
        <dsp:cNvSpPr/>
      </dsp:nvSpPr>
      <dsp:spPr>
        <a:xfrm>
          <a:off x="7818646" y="20741"/>
          <a:ext cx="3312238" cy="1987342"/>
        </a:xfrm>
        <a:prstGeom prst="rect">
          <a:avLst/>
        </a:prstGeom>
        <a:solidFill>
          <a:srgbClr val="00B0F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i="0" kern="1200">
              <a:latin typeface="Times New Roman" panose="02020603050405020304" pitchFamily="18" charset="0"/>
              <a:cs typeface="Times New Roman" panose="02020603050405020304" pitchFamily="18" charset="0"/>
            </a:rPr>
            <a:t>Wei et al., "Learning Pixel-Level Distinctions for Video Highlight Detection," CVPR 2022.</a:t>
          </a:r>
          <a:endParaRPr lang="en-US" sz="21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818646" y="20741"/>
        <a:ext cx="3312238" cy="19873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ProcessNew">
  <dgm:title val="Basic Process New"/>
  <dgm:desc val="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fact="0.15"/>
      <dgm:constr type="h" for="ch" forName="sibTrans" op="equ"/>
    </dgm:constrLst>
    <dgm:ruleLst>
      <dgm:rule type="h" for="ch" forName="sibTrans" val="6.75" fact="NaN" max="NaN"/>
      <dgm:rule type="w" for="ch" forName="sibTrans" val="8.75" fact="NaN" max="NaN"/>
    </dgm:ruleLst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lMarg" val="12"/>
          <dgm:constr type="rMarg" val="12"/>
          <dgm:constr type="tMarg" val="12"/>
          <dgm:constr type="bMarg" val="12"/>
        </dgm:constrLst>
        <dgm:ruleLst>
          <dgm:rule type="primFontSz" val="11" fact="NaN" max="NaN"/>
          <dgm:rule type="primFontSz" val="18" fact="NaN" max="NaN"/>
          <dgm:rule type="h" val="NaN" fact="1.5" max="NaN"/>
          <dgm:rule type="primFontSz" val="11" fact="NaN" max="NaN"/>
          <dgm:rule type="h" val="INF" fact="NaN" max="NaN"/>
        </dgm:ruleLst>
      </dgm:layoutNode>
      <dgm:forEach name="sibTransForEach" axis="followSib" ptType="sibTrans" cnt="1">
        <dgm:layoutNode name="sibTransSpacerBeforeConnector" styleLbl="node1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>
            <dgm:rule type="w" val="4.5" fact="NaN" max="NaN"/>
          </dgm:ruleLst>
        </dgm:layoutNode>
        <dgm:layoutNode name="sibTrans" styleLbl="node1">
          <dgm:alg type="sp"/>
          <dgm:shape xmlns:r="http://schemas.openxmlformats.org/officeDocument/2006/relationships" type="rightArrow" r:blip="">
            <dgm:adjLst>
              <dgm:adj idx="1" val="0.5"/>
            </dgm:adjLst>
          </dgm:shape>
          <dgm:presOf axis="self"/>
          <dgm:constrLst>
            <dgm:constr type="h" val="6.75"/>
          </dgm:constrLst>
          <dgm:ruleLst>
            <dgm:rule type="h" val="6.75" fact="NaN" max="NaN"/>
            <dgm:rule type="w" val="8.75" fact="NaN" max="NaN"/>
          </dgm:ruleLst>
        </dgm:layoutNode>
        <dgm:layoutNode name="sibTransSpacerAfterConnector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934B8-012C-D10A-6DA8-0F641A7FB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4FA1D4-CFDC-CA5D-D09C-7E924E74C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2D216-A527-C933-5E61-42CB752D3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FFA56-E2C4-4A57-821C-DE1A774FF9B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F7C28-3D91-DA78-27B3-DFDCAE46D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819D1-4FD6-43D6-B117-FF3C5EBE2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590F-DD64-4D01-A55D-B6FC1E30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761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D3B8E-F18C-F8F0-66C9-B27B560A1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31253-1F3B-2505-C4D9-129140AE6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5EDFA-47A9-9569-0D8C-7B19AF7D4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FFA56-E2C4-4A57-821C-DE1A774FF9B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B9D46-0E46-8066-6D8A-0CAC3F505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8D98D-3671-3B31-FA92-6051D88C9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590F-DD64-4D01-A55D-B6FC1E30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684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1A38-8B26-F151-9266-35B2983AF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6D7CA-9925-E197-DC4C-C7CFA6EB8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9D934-05BB-18D7-333E-A7B1ED498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FFA56-E2C4-4A57-821C-DE1A774FF9B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EE4EB-B98E-5B38-9C46-EE0C3A738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BC68F-EBEF-703A-B159-FC70438F8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590F-DD64-4D01-A55D-B6FC1E30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699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D71A-9A14-30B6-50A8-14C76F11F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3425E-000D-4841-3775-657824A26A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4185D-27F0-F704-7BF2-672622D19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6EE3A-5FC3-D5EB-5732-BA075A182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FFA56-E2C4-4A57-821C-DE1A774FF9B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6BA16-CDC6-0DCC-07B7-46DF14DFB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DE0A3-09E1-DFE8-67EF-1FE4626B8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590F-DD64-4D01-A55D-B6FC1E30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82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7650F-B4DB-D569-F5F0-C4BCA605C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E32F3-DA4A-1DFB-880D-FD2369EDF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5D77C-D64F-3F13-AE66-C5F74D2DA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9D3EF0-787D-5C75-F70A-79652DDAC2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DCE5F9-2A0D-C42B-E944-B174597A6B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F997BA-88FE-4BFE-79A4-D73749AF7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FFA56-E2C4-4A57-821C-DE1A774FF9B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D6AE07-4260-FB16-12A4-B42A6633E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5B1CC6-E033-6374-3749-C8D385FA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590F-DD64-4D01-A55D-B6FC1E30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569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B164F-AD04-11FB-6C5F-EC9C24DA5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DB2347-B3C2-AF22-A8DA-A1FCF5C85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FFA56-E2C4-4A57-821C-DE1A774FF9B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2ED67D-13C9-453C-32D0-38536B6E2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772DB-A83C-DD36-8DC5-1ABD843D6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590F-DD64-4D01-A55D-B6FC1E30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021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02A40-85CA-70E0-03EC-2792CDFF5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FFA56-E2C4-4A57-821C-DE1A774FF9B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A08F99-C229-E35F-ADB4-DE50A44B5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AD335-CBE7-E997-80B4-D1EF86DB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590F-DD64-4D01-A55D-B6FC1E30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65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3762B-293B-B6E5-F9BF-DD7BA116D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BD9D0-9C08-89EF-4A08-883086A92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A0C14A-1E9A-4A31-00E1-33F86ECD95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1C26A-7229-FB38-8B6C-F131143EA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FFA56-E2C4-4A57-821C-DE1A774FF9B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0A3B2-2C33-66DC-88F0-EDFAE2701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7618F8-8634-500E-D379-53C732DF4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590F-DD64-4D01-A55D-B6FC1E30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743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0CBE8-35B0-B7BF-244C-61FF687B4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95F1FB-783B-3F05-8F3F-F732B01C4D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EDA7F4-450C-DED1-D678-77785AF11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805AF-213B-7A19-64B1-9034D36EB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FFA56-E2C4-4A57-821C-DE1A774FF9B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049351-0725-F555-D321-DCA8095AE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B35DF-6F97-D471-3988-CA4653A12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590F-DD64-4D01-A55D-B6FC1E30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45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4EF78-11EA-34AE-3B2E-A9848864C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EFE612-988B-A0AE-B7CF-1D0CAD4B4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76875-4670-F1EA-ADD6-F745740E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FFA56-E2C4-4A57-821C-DE1A774FF9B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20E66-4F69-D0CC-2122-9569EEA4F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B9004-00B9-C4A1-349B-88E7A4F50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590F-DD64-4D01-A55D-B6FC1E30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03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C5B220-A821-7E8C-D1E1-9143054C0F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E82700-D853-BC22-6918-EC1986764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8BE9B-89F8-F01A-1A8A-4948ED3C1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FFA56-E2C4-4A57-821C-DE1A774FF9B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28ED4-7A8B-365E-5B81-09C44C1AB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532D5-78E0-A700-BCA4-DA4CF7DE0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8590F-DD64-4D01-A55D-B6FC1E30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133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66A39-9381-D89C-A5AC-CA1C094E8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DD922-DE9B-665F-EE25-224AB7AA3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02B76-7EDD-5B17-67F9-4F774B0057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6FFA56-E2C4-4A57-821C-DE1A774FF9B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D55A5-D041-DD00-BEF6-C5CAF73E7F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EB5F2-EFBE-581C-D522-0A4806DD8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88590F-DD64-4D01-A55D-B6FC1E30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04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infogram.com/total-hours-watched-game-video-streaming-twitch-youtube-1hdw2jpmzm9np2l" TargetMode="Externa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5859D-F5B7-3886-144D-231519862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31371"/>
            <a:ext cx="9144000" cy="1180421"/>
          </a:xfrm>
        </p:spPr>
        <p:txBody>
          <a:bodyPr/>
          <a:lstStyle/>
          <a:p>
            <a:r>
              <a:rPr lang="en-US"/>
              <a:t>VOD2Video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6D51BA-8950-3280-C66D-CA2042E60F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10331"/>
            <a:ext cx="9144000" cy="1655762"/>
          </a:xfrm>
        </p:spPr>
        <p:txBody>
          <a:bodyPr/>
          <a:lstStyle/>
          <a:p>
            <a:r>
              <a:rPr lang="en-US"/>
              <a:t> AI-Powered Long-Form YouTube Video Generation from Livestream VODs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19CB43-64AA-F721-49E9-AEE4EC52DC26}"/>
              </a:ext>
            </a:extLst>
          </p:cNvPr>
          <p:cNvSpPr txBox="1"/>
          <p:nvPr/>
        </p:nvSpPr>
        <p:spPr>
          <a:xfrm>
            <a:off x="3665764" y="6041963"/>
            <a:ext cx="4860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Group 5: Kurt Jensen, Ian Wood, Drew Peterson</a:t>
            </a:r>
          </a:p>
        </p:txBody>
      </p:sp>
      <p:pic>
        <p:nvPicPr>
          <p:cNvPr id="1038" name="Picture 14" descr="Youtube Logo PNG, Youtube Logo Transparent Background - FreeIconsPNG">
            <a:extLst>
              <a:ext uri="{FF2B5EF4-FFF2-40B4-BE49-F238E27FC236}">
                <a16:creationId xmlns:a16="http://schemas.microsoft.com/office/drawing/2014/main" id="{0EBABBBD-85D9-9C61-445A-E6DD18305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6363" y="3429000"/>
            <a:ext cx="2523273" cy="2523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4FA1F0B8-3AFA-4F9F-BBEB-274613B688DF}"/>
              </a:ext>
            </a:extLst>
          </p:cNvPr>
          <p:cNvSpPr/>
          <p:nvPr/>
        </p:nvSpPr>
        <p:spPr>
          <a:xfrm>
            <a:off x="7494814" y="4505970"/>
            <a:ext cx="1698171" cy="369332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1C7C572-5A47-F11E-F8F4-EACB3B5F3E09}"/>
              </a:ext>
            </a:extLst>
          </p:cNvPr>
          <p:cNvSpPr/>
          <p:nvPr/>
        </p:nvSpPr>
        <p:spPr>
          <a:xfrm>
            <a:off x="2830287" y="4505970"/>
            <a:ext cx="1698171" cy="369332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0" name="Picture 16" descr="Download Video Camera Png Icon Clip Art Black And White Library - Video  Camera Png Icon PNG Image with No Background - PNGkey.com">
            <a:extLst>
              <a:ext uri="{FF2B5EF4-FFF2-40B4-BE49-F238E27FC236}">
                <a16:creationId xmlns:a16="http://schemas.microsoft.com/office/drawing/2014/main" id="{7529D9F6-FF0C-CCF9-2D3A-5C485AC2F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17" y="3566093"/>
            <a:ext cx="2057202" cy="2004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Video Clip PNGs for Free Download">
            <a:extLst>
              <a:ext uri="{FF2B5EF4-FFF2-40B4-BE49-F238E27FC236}">
                <a16:creationId xmlns:a16="http://schemas.microsoft.com/office/drawing/2014/main" id="{36C8C01B-D3A4-9566-1A83-6DD83BEB8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25" y="3023761"/>
            <a:ext cx="333375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4106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witch Logo Png - Free Transparent PNG Logos">
            <a:extLst>
              <a:ext uri="{FF2B5EF4-FFF2-40B4-BE49-F238E27FC236}">
                <a16:creationId xmlns:a16="http://schemas.microsoft.com/office/drawing/2014/main" id="{9205825F-EC2D-75E3-9AFA-6D2FC4630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5173" y="1254418"/>
            <a:ext cx="1421695" cy="1465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0D8432A-95B9-0B35-FDCD-E7A389CBF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22695" y="3750347"/>
            <a:ext cx="3549881" cy="1141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Right Triangle 1036" hidden="1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086A5A31-B10A-4793-84D4-D785959AE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5201" y="623275"/>
            <a:ext cx="5141626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603B59-01D6-7720-6B6F-A81467DE1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832" y="869320"/>
            <a:ext cx="4218138" cy="15972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D022B8A-67FB-7A73-01D4-942FC1662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96320" y="1375969"/>
            <a:ext cx="2488580" cy="1045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2D895A-8EA8-915A-CE8B-195E4FA618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9832" y="2712593"/>
            <a:ext cx="3684551" cy="280244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>
                <a:latin typeface="Times New Roman"/>
                <a:cs typeface="Times New Roman"/>
              </a:rPr>
              <a:t>Livestreaming has various ways to monetize continuous hours of content quickly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>
                <a:latin typeface="Times New Roman"/>
                <a:cs typeface="Times New Roman"/>
              </a:rPr>
              <a:t>Livestreaming also provides the ability to interact with the chat and build a community in a more fluid way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>
                <a:latin typeface="Times New Roman"/>
                <a:cs typeface="Times New Roman"/>
              </a:rPr>
              <a:t>Through </a:t>
            </a:r>
            <a:r>
              <a:rPr lang="en-US" sz="1800">
                <a:latin typeface="Times New Roman"/>
                <a:cs typeface="Times New Roman"/>
                <a:hlinkClick r:id="rId5"/>
              </a:rPr>
              <a:t>Q2 of 2025 over 8 billion hours </a:t>
            </a:r>
            <a:r>
              <a:rPr lang="en-US" sz="1800">
                <a:latin typeface="Times New Roman"/>
                <a:cs typeface="Times New Roman"/>
              </a:rPr>
              <a:t>of livestreaming content was consumed between Twitch, YouTube Gaming and Kick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1300"/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1300"/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1300"/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1300"/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1300"/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1300"/>
          </a:p>
          <a:p>
            <a:pPr indent="-228600">
              <a:buFont typeface="Arial" panose="020B0604020202020204" pitchFamily="34" charset="0"/>
              <a:buChar char="•"/>
            </a:pP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771154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32E7-25D9-1613-87D4-8880557CB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02368E-8C91-37AC-B397-9644D79B4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38928" y="1338729"/>
            <a:ext cx="4795584" cy="41805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However, promoting one's stream can be challenging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Since posting livestreams after the fact can be found less entertaining, this introduces clips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Clips or highlights allow for creators to promote the best parts of their content and skip moments with dead space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However, it can take hours of scrubbing to find even 10 minutes of clips</a:t>
            </a:r>
          </a:p>
        </p:txBody>
      </p:sp>
    </p:spTree>
    <p:extLst>
      <p:ext uri="{BB962C8B-B14F-4D97-AF65-F5344CB8AC3E}">
        <p14:creationId xmlns:p14="http://schemas.microsoft.com/office/powerpoint/2010/main" val="4275960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807D6B-0DEA-00CD-FFFC-7D24A33DA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Solution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8711C2-1D2F-7B0C-B656-7912DD1C0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Use a deep learning model to take long form VOD (video on demand) to a cleaned and condensed YouTube video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intended to solve a real content-creation problem: manually reviewing long streams to create engaging YouTube videos is time-consuming and repetitive.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From a machine learning perspective, the main objective is to build a deep learning model that predicts whether a video segment is highlight-worthy or not. </a:t>
            </a:r>
          </a:p>
        </p:txBody>
      </p:sp>
    </p:spTree>
    <p:extLst>
      <p:ext uri="{BB962C8B-B14F-4D97-AF65-F5344CB8AC3E}">
        <p14:creationId xmlns:p14="http://schemas.microsoft.com/office/powerpoint/2010/main" val="3655247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28B58-902F-766E-B175-B509A06B4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1276" y="342899"/>
            <a:ext cx="5738016" cy="657225"/>
          </a:xfrm>
        </p:spPr>
        <p:txBody>
          <a:bodyPr>
            <a:norm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Supplemental Research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C01247-31AE-0742-A078-00907089B264}"/>
              </a:ext>
            </a:extLst>
          </p:cNvPr>
          <p:cNvSpPr txBox="1"/>
          <p:nvPr/>
        </p:nvSpPr>
        <p:spPr>
          <a:xfrm>
            <a:off x="342900" y="3604943"/>
            <a:ext cx="33146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Introduced ranking pairs of video segments against each other to determine which is more highlight worthy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2A1565-9692-EEAB-3B2B-3A01C716E1AE}"/>
              </a:ext>
            </a:extLst>
          </p:cNvPr>
          <p:cNvSpPr txBox="1">
            <a:spLocks/>
          </p:cNvSpPr>
          <p:nvPr/>
        </p:nvSpPr>
        <p:spPr>
          <a:xfrm>
            <a:off x="890586" y="4805272"/>
            <a:ext cx="22193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Validates our ranking pipeline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C2347D-1F5B-1402-971B-69873FCBB72C}"/>
              </a:ext>
            </a:extLst>
          </p:cNvPr>
          <p:cNvSpPr txBox="1">
            <a:spLocks/>
          </p:cNvSpPr>
          <p:nvPr/>
        </p:nvSpPr>
        <p:spPr>
          <a:xfrm>
            <a:off x="4876594" y="4805272"/>
            <a:ext cx="22193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Shows the LSTM architecture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04A27C-25A7-9DC9-FA97-AB246C6F1980}"/>
              </a:ext>
            </a:extLst>
          </p:cNvPr>
          <p:cNvSpPr txBox="1">
            <a:spLocks/>
          </p:cNvSpPr>
          <p:nvPr/>
        </p:nvSpPr>
        <p:spPr>
          <a:xfrm>
            <a:off x="8862602" y="4674467"/>
            <a:ext cx="22193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Guides our </a:t>
            </a:r>
            <a:r>
              <a:rPr lang="en-US" sz="110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 backbone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9511CA-1CD0-86E7-9B45-A791280387CB}"/>
              </a:ext>
            </a:extLst>
          </p:cNvPr>
          <p:cNvSpPr txBox="1"/>
          <p:nvPr/>
        </p:nvSpPr>
        <p:spPr>
          <a:xfrm>
            <a:off x="4262435" y="3666499"/>
            <a:ext cx="32908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that LSTMs can effectively model temporal structure in video for summarization tasks. 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96F04F-EAF8-1306-E6DB-28AE7209389C}"/>
              </a:ext>
            </a:extLst>
          </p:cNvPr>
          <p:cNvSpPr txBox="1"/>
          <p:nvPr/>
        </p:nvSpPr>
        <p:spPr>
          <a:xfrm>
            <a:off x="8158161" y="3589863"/>
            <a:ext cx="32908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Showed that the quality of visual feature extraction is critical for highlight detection performance</a:t>
            </a:r>
          </a:p>
        </p:txBody>
      </p:sp>
      <p:graphicFrame>
        <p:nvGraphicFramePr>
          <p:cNvPr id="16" name="Text Placeholder 3">
            <a:extLst>
              <a:ext uri="{FF2B5EF4-FFF2-40B4-BE49-F238E27FC236}">
                <a16:creationId xmlns:a16="http://schemas.microsoft.com/office/drawing/2014/main" id="{9B236ADC-8F49-6ED2-A0D3-F67150ED28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6717449"/>
              </p:ext>
            </p:extLst>
          </p:nvPr>
        </p:nvGraphicFramePr>
        <p:xfrm>
          <a:off x="342901" y="1590675"/>
          <a:ext cx="11138692" cy="20288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0728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BD53BB-5F5D-45A4-739E-25A30A6A0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LSTM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B32EE77C-9697-6ACD-2030-131FD33CDFBC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285240" y="2669085"/>
                <a:ext cx="8074815" cy="3100780"/>
              </a:xfrm>
            </p:spPr>
            <p:txBody>
              <a:bodyPr vert="horz" lIns="91440" tIns="45720" rIns="91440" bIns="45720" rtlCol="0" anchor="t">
                <a:normAutofit fontScale="92500"/>
              </a:bodyPr>
              <a:lstStyle/>
              <a:p>
                <a:pPr marL="285750" indent="-228600">
                  <a:buFont typeface="Arial" panose="020B0604020202020204" pitchFamily="34" charset="0"/>
                  <a:buChar char="•"/>
                </a:pPr>
                <a:r>
                  <a:rPr lang="en-US" sz="1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Highlights are more than just a singular frame</a:t>
                </a:r>
                <a:r>
                  <a:rPr lang="en-US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The LSTM processes the 8 frame embeddings in order and learns which patterns of change correlate with highlights.</a:t>
                </a:r>
              </a:p>
              <a:p>
                <a:pPr marL="285750" indent="-228600">
                  <a:buFont typeface="Arial" panose="020B0604020202020204" pitchFamily="34" charset="0"/>
                  <a:buChar char="•"/>
                </a:pPr>
                <a:r>
                  <a:rPr lang="en-US" sz="1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gating mechanism selectively remembers and forgets</a:t>
                </a:r>
                <a:r>
                  <a:rPr lang="en-US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The forget gate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800" i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sz="1800" i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lets the model discard stale information (Loading Screens, breaks, </a:t>
                </a:r>
                <a:r>
                  <a:rPr lang="en-US" sz="18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etc</a:t>
                </a:r>
                <a:r>
                  <a:rPr lang="en-US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285750" indent="-228600">
                  <a:buFont typeface="Arial" panose="020B0604020202020204" pitchFamily="34" charset="0"/>
                  <a:buChar char="•"/>
                </a:pPr>
                <a:r>
                  <a:rPr lang="en-US" sz="1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Cell state preserves signal across the full sequence</a:t>
                </a:r>
                <a:r>
                  <a:rPr lang="en-US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The LSTM's additive cell state update avoids gradient decay, which matters because the difference between frame 1 and frame 8 is often the strongest highlight signal.</a:t>
                </a:r>
              </a:p>
              <a:p>
                <a:pPr marL="285750" indent="-228600">
                  <a:buFont typeface="Arial" panose="020B0604020202020204" pitchFamily="34" charset="0"/>
                  <a:buChar char="•"/>
                </a:pPr>
                <a:r>
                  <a:rPr lang="en-US" sz="1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Final hidden state compresses the entire clip into single decision vector</a:t>
                </a:r>
                <a:r>
                  <a:rPr lang="en-US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That single vector feeds directly into the classifier, giving it a richer representation than any individual frame or static average could provide.</a:t>
                </a:r>
              </a:p>
              <a:p>
                <a:pPr marL="285750" indent="-228600">
                  <a:buFont typeface="Arial" panose="020B0604020202020204" pitchFamily="34" charset="0"/>
                  <a:buChar char="•"/>
                </a:pPr>
                <a:endParaRPr lang="en-US" sz="1500"/>
              </a:p>
              <a:p>
                <a:pPr marL="285750" indent="-228600">
                  <a:buFont typeface="Arial" panose="020B0604020202020204" pitchFamily="34" charset="0"/>
                  <a:buChar char="•"/>
                </a:pPr>
                <a:endParaRPr lang="en-US" sz="150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B32EE77C-9697-6ACD-2030-131FD33CDF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285240" y="2669085"/>
                <a:ext cx="8074815" cy="3100780"/>
              </a:xfrm>
              <a:blipFill>
                <a:blip r:embed="rId2"/>
                <a:stretch>
                  <a:fillRect t="-1375" r="-680" b="-1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3420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6E6E5-52D9-70AE-702C-4B377860F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785719" cy="120036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400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Proposed Model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A551E-854B-0419-78CB-F8FC223EB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>
                <a:latin typeface="Times New Roman"/>
                <a:cs typeface="Times New Roman"/>
              </a:rPr>
              <a:t>The original base model for this project was a CNN + LSTM architecture with transfer learning.</a:t>
            </a:r>
          </a:p>
          <a:p>
            <a:pPr marL="742950" lvl="1" indent="-228600">
              <a:buFont typeface="Courier New" panose="020B0604020202020204" pitchFamily="34" charset="0"/>
              <a:buChar char="o"/>
            </a:pPr>
            <a:r>
              <a:rPr lang="en-US" sz="1600">
                <a:latin typeface="Times New Roman"/>
                <a:cs typeface="Times New Roman"/>
              </a:rPr>
              <a:t>But we switched it to a CNN + LSTM </a:t>
            </a:r>
            <a:r>
              <a:rPr lang="en-US" sz="1600">
                <a:ea typeface="+mn-lt"/>
                <a:cs typeface="+mn-lt"/>
              </a:rPr>
              <a:t>architecture </a:t>
            </a:r>
            <a:r>
              <a:rPr lang="en-US" sz="1600">
                <a:latin typeface="Times New Roman"/>
                <a:cs typeface="Times New Roman"/>
              </a:rPr>
              <a:t>with an added a MLP classifier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>
                <a:latin typeface="Times New Roman"/>
                <a:cs typeface="Times New Roman"/>
              </a:rPr>
              <a:t>The CNN extracts visual features from frames, the LSTM model temporal behavior across each clip, and the MLP helps improve the final highlight / non-highlight decision.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>
                <a:latin typeface="Times New Roman"/>
                <a:cs typeface="Times New Roman"/>
              </a:rPr>
              <a:t>We added the MLP because the program is still having trouble consistently classifying what is actually a highlight.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>
                <a:latin typeface="Times New Roman"/>
                <a:cs typeface="Times New Roman"/>
              </a:rPr>
              <a:t>This gives us a stronger decision layer while keeping the temporal benefits of the CNN + LSTM pipeline.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Finally, our output layer will give each clip a binary label or score as to whether it should be used in the final compilation</a:t>
            </a:r>
          </a:p>
          <a:p>
            <a:pPr marL="285750" indent="-228600">
              <a:buChar char="•"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A3CF416-3A01-24B4-F058-B1CB9FB919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65" t="2289" r="8674" b="5219"/>
          <a:stretch>
            <a:fillRect/>
          </a:stretch>
        </p:blipFill>
        <p:spPr>
          <a:xfrm>
            <a:off x="7021286" y="936171"/>
            <a:ext cx="4106290" cy="460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352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A1870C-625B-59F0-8CFA-AB14E8DD9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US" sz="44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9C9C55-A7DA-D92D-2F6F-DA2D7A7D5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>
                <a:latin typeface="Times New Roman"/>
                <a:cs typeface="Times New Roman"/>
              </a:rPr>
              <a:t>Custom dataset made up of 5 second clips from two of the most popular YouTube streamers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Initial test needed to be kept smaller to get results ending up with a ratio of 157 : 843 highlights to non-highlights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Training/Validation/Testing split is 70/15/15 </a:t>
            </a:r>
          </a:p>
        </p:txBody>
      </p:sp>
    </p:spTree>
    <p:extLst>
      <p:ext uri="{BB962C8B-B14F-4D97-AF65-F5344CB8AC3E}">
        <p14:creationId xmlns:p14="http://schemas.microsoft.com/office/powerpoint/2010/main" val="426468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016CB47-C4D4-4332-9ED0-DBB916252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59BFE5-B771-4041-709F-FA1B8AA00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3930305"/>
            <a:ext cx="3861960" cy="24372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Current Progress/Results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35578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A5CA8B5-8EFA-1299-8392-44C0300275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05771"/>
            <a:ext cx="3335789" cy="27687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810A32-8189-9357-74B4-6D55AC99C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846" y="135509"/>
            <a:ext cx="4979007" cy="22386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DC2601-0CB0-4550-8DE7-6C92F2B5C8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53" b="20699"/>
          <a:stretch>
            <a:fillRect/>
          </a:stretch>
        </p:blipFill>
        <p:spPr>
          <a:xfrm>
            <a:off x="5159958" y="2375505"/>
            <a:ext cx="5445156" cy="1049769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635346" y="5126067"/>
            <a:ext cx="219456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D26511D-B820-C3CB-68AB-D6D34D8DD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719" y="3930305"/>
            <a:ext cx="6586915" cy="243724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Model converged smoothly over 12 epochs with best validation F1 of 0.532 at epoch 6 </a:t>
            </a:r>
          </a:p>
          <a:p>
            <a:pPr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/>
              <a:t>The model has done a good job not missing highlights but is a bit trigger happy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However, missing a highlight entirely is more harmful than including a boring clip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18423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B632C9-01B6-8DD3-8F69-02638CC9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Planned Potential Experiments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181C0-48DB-5E00-A9FD-FDED14BFE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85240" y="2771775"/>
            <a:ext cx="8074815" cy="2998089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CNN only vs CNN + LSTM: Does sequence information improve highlight detection?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900">
                <a:latin typeface="Times New Roman"/>
                <a:cs typeface="Times New Roman"/>
              </a:rPr>
              <a:t>Transfer learning vs Reduced train from scratch: Is a pretrained </a:t>
            </a:r>
            <a:r>
              <a:rPr lang="en-US" sz="1900" err="1">
                <a:latin typeface="Times New Roman"/>
                <a:cs typeface="Times New Roman"/>
              </a:rPr>
              <a:t>ResNet</a:t>
            </a:r>
            <a:r>
              <a:rPr lang="en-US" sz="1900">
                <a:latin typeface="Times New Roman"/>
                <a:cs typeface="Times New Roman"/>
              </a:rPr>
              <a:t> backbone better?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Adam vs SGD with momentum: Which optimizer works better and how do they effect performance?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900">
                <a:latin typeface="Times New Roman"/>
                <a:cs typeface="Times New Roman"/>
              </a:rPr>
              <a:t>Model exploration: I also experimented with different approaches, including a conventional autoencoder with a ResNet18 swap</a:t>
            </a:r>
          </a:p>
          <a:p>
            <a:pPr marL="742950" lvl="1" indent="-228600">
              <a:buFont typeface="Courier New" panose="020B0604020202020204" pitchFamily="34" charset="0"/>
              <a:buChar char="o"/>
            </a:pPr>
            <a:r>
              <a:rPr lang="en-US" sz="1700">
                <a:latin typeface="Times New Roman"/>
                <a:cs typeface="Times New Roman"/>
              </a:rPr>
              <a:t>Autoencoder result: That setup did not </a:t>
            </a:r>
            <a:r>
              <a:rPr lang="en-US" sz="1700" err="1">
                <a:latin typeface="Times New Roman"/>
                <a:cs typeface="Times New Roman"/>
              </a:rPr>
              <a:t>preform</a:t>
            </a:r>
            <a:r>
              <a:rPr lang="en-US" sz="1700">
                <a:latin typeface="Times New Roman"/>
                <a:cs typeface="Times New Roman"/>
              </a:rPr>
              <a:t> well and ended up being close to a coin flip for classifying highlight vs non-highlight clips.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Regularization Experiments: How do you reduce overfitting of smaller dataset?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Varied Clip Length: Compare different segment windows 3s/5s/10s, which captures highlights the best?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900">
                <a:latin typeface="Times New Roman"/>
                <a:cs typeface="Times New Roman"/>
              </a:rPr>
              <a:t>Highlight Assembly Logic: Once gathered what's the best way to structure the scored clips?</a:t>
            </a:r>
          </a:p>
          <a:p>
            <a:pPr marL="285750" indent="-228600">
              <a:buChar char="•"/>
            </a:pPr>
            <a:endParaRPr lang="en-US" sz="1900">
              <a:latin typeface="Times New Roman"/>
              <a:cs typeface="Times New Roman"/>
            </a:endParaRP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1500">
              <a:latin typeface="Aptos" panose="02110004020202020204"/>
              <a:cs typeface="Times New Roman"/>
            </a:endParaRP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1500"/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306630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0DDBC8-B12E-3DBE-B399-4B07D4B97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Future Plans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72FD0F-E172-822A-C192-480A8571B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85240" y="2969469"/>
            <a:ext cx="8598989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Dataset is relatively small compared to total number of streamers across all platforms.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Data also has a lack of game variety, which may influence certain features.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state is only 5 second clips when highlights can be of various lengths. 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12428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12BBF7-2EC3-E318-FAFA-2970C249EA2A}"/>
              </a:ext>
            </a:extLst>
          </p:cNvPr>
          <p:cNvSpPr txBox="1"/>
          <p:nvPr/>
        </p:nvSpPr>
        <p:spPr>
          <a:xfrm>
            <a:off x="1285241" y="1008993"/>
            <a:ext cx="9231410" cy="35420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15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519604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VOD2Video</vt:lpstr>
      <vt:lpstr>Background </vt:lpstr>
      <vt:lpstr>The Problem</vt:lpstr>
      <vt:lpstr>Our Solution</vt:lpstr>
      <vt:lpstr>Supplemental Research</vt:lpstr>
      <vt:lpstr>Why LSTM </vt:lpstr>
      <vt:lpstr>Our Proposed Model</vt:lpstr>
      <vt:lpstr>Dataset</vt:lpstr>
      <vt:lpstr>Current Progress/Results</vt:lpstr>
      <vt:lpstr>Planned Potential Experiments</vt:lpstr>
      <vt:lpstr>Limitations and Future Plans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Lisa Wood</dc:creator>
  <cp:revision>2</cp:revision>
  <dcterms:created xsi:type="dcterms:W3CDTF">2026-04-14T22:43:19Z</dcterms:created>
  <dcterms:modified xsi:type="dcterms:W3CDTF">2026-04-28T04:30:01Z</dcterms:modified>
</cp:coreProperties>
</file>